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65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jp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3777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1926" y="549657"/>
            <a:ext cx="15043150" cy="2524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523" y="4526287"/>
            <a:ext cx="16708755" cy="274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0690" y="3373726"/>
            <a:ext cx="13694410" cy="328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5080" indent="-92075">
              <a:lnSpc>
                <a:spcPct val="116199"/>
              </a:lnSpc>
              <a:spcBef>
                <a:spcPts val="95"/>
              </a:spcBef>
            </a:pPr>
            <a:r>
              <a:rPr spc="-890" dirty="0"/>
              <a:t>STUDENT</a:t>
            </a:r>
            <a:r>
              <a:rPr spc="-880" dirty="0"/>
              <a:t> </a:t>
            </a:r>
            <a:r>
              <a:rPr spc="-1475" dirty="0"/>
              <a:t>A</a:t>
            </a:r>
            <a:r>
              <a:rPr spc="-755" dirty="0"/>
              <a:t>T</a:t>
            </a:r>
            <a:r>
              <a:rPr spc="-825" dirty="0"/>
              <a:t>TEN</a:t>
            </a:r>
            <a:r>
              <a:rPr spc="-969" dirty="0"/>
              <a:t>D</a:t>
            </a:r>
            <a:r>
              <a:rPr spc="-825" dirty="0"/>
              <a:t>ANC</a:t>
            </a:r>
            <a:r>
              <a:rPr spc="-815" dirty="0"/>
              <a:t>E</a:t>
            </a:r>
            <a:r>
              <a:rPr spc="-900" dirty="0"/>
              <a:t> </a:t>
            </a:r>
            <a:r>
              <a:rPr spc="-760" dirty="0"/>
              <a:t>MANAGEMENT</a:t>
            </a:r>
            <a:r>
              <a:rPr spc="-894" dirty="0"/>
              <a:t> </a:t>
            </a:r>
            <a:r>
              <a:rPr spc="-1070" dirty="0"/>
              <a:t>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323590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171440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7019290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8867140"/>
            <a:ext cx="228600" cy="228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82560" y="2861939"/>
            <a:ext cx="16645890" cy="649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3325" marR="1195070" algn="ctr">
              <a:lnSpc>
                <a:spcPct val="116599"/>
              </a:lnSpc>
              <a:spcBef>
                <a:spcPts val="100"/>
              </a:spcBef>
            </a:pPr>
            <a:r>
              <a:rPr sz="5200" spc="50" dirty="0">
                <a:latin typeface="Lucida Sans"/>
                <a:cs typeface="Lucida Sans"/>
              </a:rPr>
              <a:t>Attendance</a:t>
            </a:r>
            <a:r>
              <a:rPr sz="5200" spc="-340" dirty="0">
                <a:latin typeface="Lucida Sans"/>
                <a:cs typeface="Lucida Sans"/>
              </a:rPr>
              <a:t> </a:t>
            </a:r>
            <a:r>
              <a:rPr sz="5200" spc="-105" dirty="0">
                <a:latin typeface="Lucida Sans"/>
                <a:cs typeface="Lucida Sans"/>
              </a:rPr>
              <a:t>is</a:t>
            </a:r>
            <a:r>
              <a:rPr sz="5200" spc="-335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an</a:t>
            </a:r>
            <a:r>
              <a:rPr sz="5200" spc="-335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important</a:t>
            </a:r>
            <a:r>
              <a:rPr sz="5200" spc="-335" dirty="0">
                <a:latin typeface="Lucida Sans"/>
                <a:cs typeface="Lucida Sans"/>
              </a:rPr>
              <a:t> </a:t>
            </a:r>
            <a:r>
              <a:rPr sz="5200" spc="60" dirty="0">
                <a:latin typeface="Lucida Sans"/>
                <a:cs typeface="Lucida Sans"/>
              </a:rPr>
              <a:t>part</a:t>
            </a:r>
            <a:r>
              <a:rPr sz="5200" spc="-34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of</a:t>
            </a:r>
            <a:r>
              <a:rPr sz="5200" spc="-335" dirty="0">
                <a:latin typeface="Lucida Sans"/>
                <a:cs typeface="Lucida Sans"/>
              </a:rPr>
              <a:t> </a:t>
            </a:r>
            <a:r>
              <a:rPr sz="5200" spc="-10" dirty="0">
                <a:latin typeface="Lucida Sans"/>
                <a:cs typeface="Lucida Sans"/>
              </a:rPr>
              <a:t>academic management</a:t>
            </a:r>
            <a:endParaRPr sz="5200">
              <a:latin typeface="Lucida Sans"/>
              <a:cs typeface="Lucida Sans"/>
            </a:endParaRPr>
          </a:p>
          <a:p>
            <a:pPr marL="561975" marR="554355" algn="ctr">
              <a:lnSpc>
                <a:spcPct val="116599"/>
              </a:lnSpc>
            </a:pPr>
            <a:r>
              <a:rPr sz="5200" dirty="0">
                <a:latin typeface="Lucida Sans"/>
                <a:cs typeface="Lucida Sans"/>
              </a:rPr>
              <a:t>Manual</a:t>
            </a:r>
            <a:r>
              <a:rPr sz="5200" spc="-330" dirty="0">
                <a:latin typeface="Lucida Sans"/>
                <a:cs typeface="Lucida Sans"/>
              </a:rPr>
              <a:t> </a:t>
            </a:r>
            <a:r>
              <a:rPr sz="5200" spc="60" dirty="0">
                <a:latin typeface="Lucida Sans"/>
                <a:cs typeface="Lucida Sans"/>
              </a:rPr>
              <a:t>attendance</a:t>
            </a:r>
            <a:r>
              <a:rPr sz="5200" spc="-325" dirty="0">
                <a:latin typeface="Lucida Sans"/>
                <a:cs typeface="Lucida Sans"/>
              </a:rPr>
              <a:t> </a:t>
            </a:r>
            <a:r>
              <a:rPr sz="5200" spc="-105" dirty="0">
                <a:latin typeface="Lucida Sans"/>
                <a:cs typeface="Lucida Sans"/>
              </a:rPr>
              <a:t>is</a:t>
            </a:r>
            <a:r>
              <a:rPr sz="5200" spc="-325" dirty="0">
                <a:latin typeface="Lucida Sans"/>
                <a:cs typeface="Lucida Sans"/>
              </a:rPr>
              <a:t> </a:t>
            </a:r>
            <a:r>
              <a:rPr sz="5200" spc="50" dirty="0">
                <a:latin typeface="Lucida Sans"/>
                <a:cs typeface="Lucida Sans"/>
              </a:rPr>
              <a:t>time-</a:t>
            </a:r>
            <a:r>
              <a:rPr sz="5200" spc="-75" dirty="0">
                <a:latin typeface="Lucida Sans"/>
                <a:cs typeface="Lucida Sans"/>
              </a:rPr>
              <a:t>consuming</a:t>
            </a:r>
            <a:r>
              <a:rPr sz="5200" spc="-33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and</a:t>
            </a:r>
            <a:r>
              <a:rPr sz="5200" spc="-325" dirty="0">
                <a:latin typeface="Lucida Sans"/>
                <a:cs typeface="Lucida Sans"/>
              </a:rPr>
              <a:t> </a:t>
            </a:r>
            <a:r>
              <a:rPr sz="5200" spc="50" dirty="0">
                <a:latin typeface="Lucida Sans"/>
                <a:cs typeface="Lucida Sans"/>
              </a:rPr>
              <a:t>error- </a:t>
            </a:r>
            <a:r>
              <a:rPr sz="5200" spc="-10" dirty="0">
                <a:latin typeface="Lucida Sans"/>
                <a:cs typeface="Lucida Sans"/>
              </a:rPr>
              <a:t>prone</a:t>
            </a:r>
            <a:endParaRPr sz="5200">
              <a:latin typeface="Lucida Sans"/>
              <a:cs typeface="Lucida Sans"/>
            </a:endParaRPr>
          </a:p>
          <a:p>
            <a:pPr marL="434340" marR="426720" algn="ctr">
              <a:lnSpc>
                <a:spcPct val="116599"/>
              </a:lnSpc>
            </a:pPr>
            <a:r>
              <a:rPr sz="5200" spc="-135" dirty="0">
                <a:latin typeface="Lucida Sans"/>
                <a:cs typeface="Lucida Sans"/>
              </a:rPr>
              <a:t>This</a:t>
            </a:r>
            <a:r>
              <a:rPr sz="5200" spc="-275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project</a:t>
            </a:r>
            <a:r>
              <a:rPr sz="5200" spc="-27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provides</a:t>
            </a:r>
            <a:r>
              <a:rPr sz="5200" spc="-27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a</a:t>
            </a:r>
            <a:r>
              <a:rPr sz="5200" spc="-270" dirty="0">
                <a:latin typeface="Lucida Sans"/>
                <a:cs typeface="Lucida Sans"/>
              </a:rPr>
              <a:t> </a:t>
            </a:r>
            <a:r>
              <a:rPr sz="5200" spc="-30" dirty="0">
                <a:latin typeface="Lucida Sans"/>
                <a:cs typeface="Lucida Sans"/>
              </a:rPr>
              <a:t>simple</a:t>
            </a:r>
            <a:r>
              <a:rPr sz="5200" spc="-270" dirty="0">
                <a:latin typeface="Lucida Sans"/>
                <a:cs typeface="Lucida Sans"/>
              </a:rPr>
              <a:t> </a:t>
            </a:r>
            <a:r>
              <a:rPr sz="5200" spc="60" dirty="0">
                <a:latin typeface="Lucida Sans"/>
                <a:cs typeface="Lucida Sans"/>
              </a:rPr>
              <a:t>attendance</a:t>
            </a:r>
            <a:r>
              <a:rPr sz="5200" spc="-270" dirty="0">
                <a:latin typeface="Lucida Sans"/>
                <a:cs typeface="Lucida Sans"/>
              </a:rPr>
              <a:t> </a:t>
            </a:r>
            <a:r>
              <a:rPr sz="5200" spc="-10" dirty="0">
                <a:latin typeface="Lucida Sans"/>
                <a:cs typeface="Lucida Sans"/>
              </a:rPr>
              <a:t>system </a:t>
            </a:r>
            <a:r>
              <a:rPr sz="5200" spc="-140" dirty="0">
                <a:latin typeface="Lucida Sans"/>
                <a:cs typeface="Lucida Sans"/>
              </a:rPr>
              <a:t>using</a:t>
            </a:r>
            <a:r>
              <a:rPr sz="5200" spc="-375" dirty="0">
                <a:latin typeface="Lucida Sans"/>
                <a:cs typeface="Lucida Sans"/>
              </a:rPr>
              <a:t> </a:t>
            </a:r>
            <a:r>
              <a:rPr sz="5200" spc="-50" dirty="0">
                <a:latin typeface="Lucida Sans"/>
                <a:cs typeface="Lucida Sans"/>
              </a:rPr>
              <a:t>C</a:t>
            </a:r>
            <a:endParaRPr sz="52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5200" spc="114" dirty="0">
                <a:latin typeface="Lucida Sans"/>
                <a:cs typeface="Lucida Sans"/>
              </a:rPr>
              <a:t>It</a:t>
            </a:r>
            <a:r>
              <a:rPr sz="5200" spc="-30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stores</a:t>
            </a:r>
            <a:r>
              <a:rPr sz="5200" spc="-30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and</a:t>
            </a:r>
            <a:r>
              <a:rPr sz="5200" spc="-295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displays</a:t>
            </a:r>
            <a:r>
              <a:rPr sz="5200" spc="-300" dirty="0">
                <a:latin typeface="Lucida Sans"/>
                <a:cs typeface="Lucida Sans"/>
              </a:rPr>
              <a:t> </a:t>
            </a:r>
            <a:r>
              <a:rPr sz="5200" dirty="0">
                <a:latin typeface="Lucida Sans"/>
                <a:cs typeface="Lucida Sans"/>
              </a:rPr>
              <a:t>student</a:t>
            </a:r>
            <a:r>
              <a:rPr sz="5200" spc="-295" dirty="0">
                <a:latin typeface="Lucida Sans"/>
                <a:cs typeface="Lucida Sans"/>
              </a:rPr>
              <a:t> </a:t>
            </a:r>
            <a:r>
              <a:rPr sz="5200" spc="60" dirty="0">
                <a:latin typeface="Lucida Sans"/>
                <a:cs typeface="Lucida Sans"/>
              </a:rPr>
              <a:t>attendance</a:t>
            </a:r>
            <a:r>
              <a:rPr sz="5200" spc="-300" dirty="0">
                <a:latin typeface="Lucida Sans"/>
                <a:cs typeface="Lucida Sans"/>
              </a:rPr>
              <a:t> </a:t>
            </a:r>
            <a:r>
              <a:rPr sz="5200" spc="40" dirty="0">
                <a:latin typeface="Lucida Sans"/>
                <a:cs typeface="Lucida Sans"/>
              </a:rPr>
              <a:t>efficiently</a:t>
            </a:r>
            <a:endParaRPr sz="5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51949" y="677608"/>
            <a:ext cx="726440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19904" y="3195948"/>
            <a:ext cx="16292194" cy="372110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135"/>
              </a:spcBef>
            </a:pPr>
            <a:r>
              <a:rPr sz="5200" spc="-625" dirty="0">
                <a:latin typeface="Arial Black"/>
                <a:cs typeface="Arial Black"/>
              </a:rPr>
              <a:t>To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50" dirty="0">
                <a:latin typeface="Arial Black"/>
                <a:cs typeface="Arial Black"/>
              </a:rPr>
              <a:t>manage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85" dirty="0">
                <a:latin typeface="Arial Black"/>
                <a:cs typeface="Arial Black"/>
              </a:rPr>
              <a:t>student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60" dirty="0">
                <a:latin typeface="Arial Black"/>
                <a:cs typeface="Arial Black"/>
              </a:rPr>
              <a:t>records</a:t>
            </a:r>
            <a:endParaRPr sz="5200">
              <a:latin typeface="Arial Black"/>
              <a:cs typeface="Arial Black"/>
            </a:endParaRPr>
          </a:p>
          <a:p>
            <a:pPr marL="36195" marR="5080" indent="89535">
              <a:lnSpc>
                <a:spcPct val="116599"/>
              </a:lnSpc>
            </a:pPr>
            <a:r>
              <a:rPr sz="5200" spc="-625" dirty="0">
                <a:latin typeface="Arial Black"/>
                <a:cs typeface="Arial Black"/>
              </a:rPr>
              <a:t>To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35" dirty="0">
                <a:latin typeface="Arial Black"/>
                <a:cs typeface="Arial Black"/>
              </a:rPr>
              <a:t>store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85" dirty="0">
                <a:latin typeface="Arial Black"/>
                <a:cs typeface="Arial Black"/>
              </a:rPr>
              <a:t>student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25" dirty="0">
                <a:latin typeface="Arial Black"/>
                <a:cs typeface="Arial Black"/>
              </a:rPr>
              <a:t>details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85" dirty="0">
                <a:latin typeface="Arial Black"/>
                <a:cs typeface="Arial Black"/>
              </a:rPr>
              <a:t>like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185" dirty="0">
                <a:latin typeface="Arial Black"/>
                <a:cs typeface="Arial Black"/>
              </a:rPr>
              <a:t>roll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65" dirty="0">
                <a:latin typeface="Arial Black"/>
                <a:cs typeface="Arial Black"/>
              </a:rPr>
              <a:t>number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and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09" dirty="0">
                <a:latin typeface="Arial Black"/>
                <a:cs typeface="Arial Black"/>
              </a:rPr>
              <a:t>name </a:t>
            </a:r>
            <a:r>
              <a:rPr sz="5200" spc="-625" dirty="0">
                <a:latin typeface="Arial Black"/>
                <a:cs typeface="Arial Black"/>
              </a:rPr>
              <a:t>To</a:t>
            </a:r>
            <a:r>
              <a:rPr sz="5200" spc="-505" dirty="0">
                <a:latin typeface="Arial Black"/>
                <a:cs typeface="Arial Black"/>
              </a:rPr>
              <a:t> </a:t>
            </a:r>
            <a:r>
              <a:rPr sz="5200" spc="-305" dirty="0">
                <a:latin typeface="Arial Black"/>
                <a:cs typeface="Arial Black"/>
              </a:rPr>
              <a:t>record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45" dirty="0">
                <a:latin typeface="Arial Black"/>
                <a:cs typeface="Arial Black"/>
              </a:rPr>
              <a:t>date,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400" dirty="0">
                <a:latin typeface="Arial Black"/>
                <a:cs typeface="Arial Black"/>
              </a:rPr>
              <a:t>day,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and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95" dirty="0">
                <a:latin typeface="Arial Black"/>
                <a:cs typeface="Arial Black"/>
              </a:rPr>
              <a:t>status</a:t>
            </a:r>
            <a:endParaRPr sz="5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5200" spc="-625" dirty="0">
                <a:latin typeface="Arial Black"/>
                <a:cs typeface="Arial Black"/>
              </a:rPr>
              <a:t>To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display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35" dirty="0">
                <a:latin typeface="Arial Black"/>
                <a:cs typeface="Arial Black"/>
              </a:rPr>
              <a:t>in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520" dirty="0">
                <a:latin typeface="Arial Black"/>
                <a:cs typeface="Arial Black"/>
              </a:rPr>
              <a:t>a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structured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10" dirty="0">
                <a:latin typeface="Arial Black"/>
                <a:cs typeface="Arial Black"/>
              </a:rPr>
              <a:t>format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0691" rIns="0" bIns="0" rtlCol="0">
            <a:spAutoFit/>
          </a:bodyPr>
          <a:lstStyle/>
          <a:p>
            <a:pPr marL="4587240">
              <a:lnSpc>
                <a:spcPct val="100000"/>
              </a:lnSpc>
              <a:spcBef>
                <a:spcPts val="100"/>
              </a:spcBef>
            </a:pPr>
            <a:r>
              <a:rPr spc="-615" dirty="0"/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05924" y="3195948"/>
            <a:ext cx="11303635" cy="372110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135"/>
              </a:spcBef>
            </a:pPr>
            <a:r>
              <a:rPr sz="5200" spc="-530" dirty="0">
                <a:latin typeface="Arial Black"/>
                <a:cs typeface="Arial Black"/>
              </a:rPr>
              <a:t>Uses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40" dirty="0">
                <a:latin typeface="Arial Black"/>
                <a:cs typeface="Arial Black"/>
              </a:rPr>
              <a:t>structures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235" dirty="0">
                <a:latin typeface="Arial Black"/>
                <a:cs typeface="Arial Black"/>
              </a:rPr>
              <a:t>in</a:t>
            </a:r>
            <a:r>
              <a:rPr sz="5200" spc="-500" dirty="0">
                <a:latin typeface="Arial Black"/>
                <a:cs typeface="Arial Black"/>
              </a:rPr>
              <a:t> C</a:t>
            </a:r>
            <a:endParaRPr sz="5200">
              <a:latin typeface="Arial Black"/>
              <a:cs typeface="Arial Black"/>
            </a:endParaRPr>
          </a:p>
          <a:p>
            <a:pPr marL="12700" marR="5080" indent="53340">
              <a:lnSpc>
                <a:spcPct val="116599"/>
              </a:lnSpc>
            </a:pPr>
            <a:r>
              <a:rPr sz="5200" spc="-375" dirty="0">
                <a:latin typeface="Arial Black"/>
                <a:cs typeface="Arial Black"/>
              </a:rPr>
              <a:t>Stores</a:t>
            </a:r>
            <a:r>
              <a:rPr sz="5200" spc="-480" dirty="0">
                <a:latin typeface="Arial Black"/>
                <a:cs typeface="Arial Black"/>
              </a:rPr>
              <a:t> </a:t>
            </a:r>
            <a:r>
              <a:rPr sz="5200" spc="-240" dirty="0">
                <a:latin typeface="Arial Black"/>
                <a:cs typeface="Arial Black"/>
              </a:rPr>
              <a:t>multiple</a:t>
            </a:r>
            <a:r>
              <a:rPr sz="5200" spc="-480" dirty="0">
                <a:latin typeface="Arial Black"/>
                <a:cs typeface="Arial Black"/>
              </a:rPr>
              <a:t> </a:t>
            </a:r>
            <a:r>
              <a:rPr sz="5200" spc="-285" dirty="0">
                <a:latin typeface="Arial Black"/>
                <a:cs typeface="Arial Black"/>
              </a:rPr>
              <a:t>student</a:t>
            </a:r>
            <a:r>
              <a:rPr sz="5200" spc="-480" dirty="0">
                <a:latin typeface="Arial Black"/>
                <a:cs typeface="Arial Black"/>
              </a:rPr>
              <a:t> </a:t>
            </a:r>
            <a:r>
              <a:rPr sz="5200" spc="-360" dirty="0">
                <a:latin typeface="Arial Black"/>
                <a:cs typeface="Arial Black"/>
              </a:rPr>
              <a:t>records </a:t>
            </a:r>
            <a:r>
              <a:rPr sz="5200" spc="-330" dirty="0">
                <a:latin typeface="Arial Black"/>
                <a:cs typeface="Arial Black"/>
              </a:rPr>
              <a:t>Displays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25" dirty="0">
                <a:latin typeface="Arial Black"/>
                <a:cs typeface="Arial Black"/>
              </a:rPr>
              <a:t>details</a:t>
            </a:r>
            <a:r>
              <a:rPr sz="5200" spc="-484" dirty="0">
                <a:latin typeface="Arial Black"/>
                <a:cs typeface="Arial Black"/>
              </a:rPr>
              <a:t> </a:t>
            </a:r>
            <a:r>
              <a:rPr sz="5200" spc="-325" dirty="0">
                <a:latin typeface="Arial Black"/>
                <a:cs typeface="Arial Black"/>
              </a:rPr>
              <a:t>clearly </a:t>
            </a:r>
            <a:r>
              <a:rPr sz="5200" spc="-455" dirty="0">
                <a:latin typeface="Arial Black"/>
                <a:cs typeface="Arial Black"/>
              </a:rPr>
              <a:t>Reduces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40" dirty="0">
                <a:latin typeface="Arial Black"/>
                <a:cs typeface="Arial Black"/>
              </a:rPr>
              <a:t>manual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490" dirty="0">
                <a:latin typeface="Arial Black"/>
                <a:cs typeface="Arial Black"/>
              </a:rPr>
              <a:t>work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183" rIns="0" bIns="0" rtlCol="0">
            <a:spAutoFit/>
          </a:bodyPr>
          <a:lstStyle/>
          <a:p>
            <a:pPr marL="721995">
              <a:lnSpc>
                <a:spcPct val="100000"/>
              </a:lnSpc>
              <a:spcBef>
                <a:spcPts val="100"/>
              </a:spcBef>
            </a:pPr>
            <a:r>
              <a:rPr spc="-710" dirty="0"/>
              <a:t>Features</a:t>
            </a:r>
            <a:r>
              <a:rPr spc="-894" dirty="0"/>
              <a:t> </a:t>
            </a:r>
            <a:r>
              <a:rPr spc="-225" dirty="0"/>
              <a:t>of</a:t>
            </a:r>
            <a:r>
              <a:rPr spc="-894" dirty="0"/>
              <a:t> </a:t>
            </a:r>
            <a:r>
              <a:rPr spc="-475" dirty="0"/>
              <a:t>the</a:t>
            </a:r>
            <a:r>
              <a:rPr spc="-890" dirty="0"/>
              <a:t> </a:t>
            </a:r>
            <a:r>
              <a:rPr spc="-730" dirty="0"/>
              <a:t>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43627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67552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491477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9262" y="6410640"/>
            <a:ext cx="238125" cy="2381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9262" y="7334565"/>
            <a:ext cx="238125" cy="2381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9262" y="8258490"/>
            <a:ext cx="238125" cy="2381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83607" y="3181976"/>
            <a:ext cx="9098280" cy="556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713740" indent="-19685">
              <a:lnSpc>
                <a:spcPct val="116599"/>
              </a:lnSpc>
              <a:spcBef>
                <a:spcPts val="100"/>
              </a:spcBef>
            </a:pPr>
            <a:r>
              <a:rPr sz="5200" spc="-360" dirty="0">
                <a:latin typeface="Arial Black"/>
                <a:cs typeface="Arial Black"/>
              </a:rPr>
              <a:t>Programming</a:t>
            </a:r>
            <a:r>
              <a:rPr sz="5200" spc="-475" dirty="0">
                <a:latin typeface="Arial Black"/>
                <a:cs typeface="Arial Black"/>
              </a:rPr>
              <a:t> </a:t>
            </a:r>
            <a:r>
              <a:rPr sz="5200" spc="-440" dirty="0">
                <a:latin typeface="Arial Black"/>
                <a:cs typeface="Arial Black"/>
              </a:rPr>
              <a:t>Language:</a:t>
            </a:r>
            <a:r>
              <a:rPr sz="5200" spc="-475" dirty="0">
                <a:latin typeface="Arial Black"/>
                <a:cs typeface="Arial Black"/>
              </a:rPr>
              <a:t> </a:t>
            </a:r>
            <a:r>
              <a:rPr sz="5200" spc="-500" dirty="0">
                <a:latin typeface="Arial Black"/>
                <a:cs typeface="Arial Black"/>
              </a:rPr>
              <a:t>C </a:t>
            </a:r>
            <a:r>
              <a:rPr sz="5200" spc="-275" dirty="0">
                <a:latin typeface="Arial Black"/>
                <a:cs typeface="Arial Black"/>
              </a:rPr>
              <a:t>Compiler:</a:t>
            </a:r>
            <a:r>
              <a:rPr sz="5200" spc="-505" dirty="0">
                <a:latin typeface="Arial Black"/>
                <a:cs typeface="Arial Black"/>
              </a:rPr>
              <a:t> </a:t>
            </a:r>
            <a:r>
              <a:rPr sz="5200" spc="-475" dirty="0">
                <a:latin typeface="Arial Black"/>
                <a:cs typeface="Arial Black"/>
              </a:rPr>
              <a:t>GCC</a:t>
            </a:r>
            <a:r>
              <a:rPr sz="5200" spc="-509" dirty="0">
                <a:latin typeface="Arial Black"/>
                <a:cs typeface="Arial Black"/>
              </a:rPr>
              <a:t> </a:t>
            </a:r>
            <a:r>
              <a:rPr sz="5200" spc="725" dirty="0">
                <a:latin typeface="Arial Black"/>
                <a:cs typeface="Arial Black"/>
              </a:rPr>
              <a:t>/</a:t>
            </a:r>
            <a:r>
              <a:rPr sz="5200" spc="-505" dirty="0">
                <a:latin typeface="Arial Black"/>
                <a:cs typeface="Arial Black"/>
              </a:rPr>
              <a:t> </a:t>
            </a:r>
            <a:r>
              <a:rPr sz="5200" spc="-330" dirty="0">
                <a:latin typeface="Arial Black"/>
                <a:cs typeface="Arial Black"/>
              </a:rPr>
              <a:t>Turbo</a:t>
            </a:r>
            <a:r>
              <a:rPr sz="5200" spc="-505" dirty="0">
                <a:latin typeface="Arial Black"/>
                <a:cs typeface="Arial Black"/>
              </a:rPr>
              <a:t> </a:t>
            </a:r>
            <a:r>
              <a:rPr sz="5200" spc="-500" dirty="0">
                <a:latin typeface="Arial Black"/>
                <a:cs typeface="Arial Black"/>
              </a:rPr>
              <a:t>C </a:t>
            </a:r>
            <a:r>
              <a:rPr sz="5200" spc="-355" dirty="0">
                <a:latin typeface="Arial Black"/>
                <a:cs typeface="Arial Black"/>
              </a:rPr>
              <a:t>Concepts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05" dirty="0">
                <a:latin typeface="Arial Black"/>
                <a:cs typeface="Arial Black"/>
              </a:rPr>
              <a:t>Used:</a:t>
            </a:r>
            <a:endParaRPr sz="5200">
              <a:latin typeface="Arial Black"/>
              <a:cs typeface="Arial Black"/>
            </a:endParaRPr>
          </a:p>
          <a:p>
            <a:pPr marL="1609090" marR="4030345" indent="40005">
              <a:lnSpc>
                <a:spcPct val="116599"/>
              </a:lnSpc>
            </a:pPr>
            <a:r>
              <a:rPr sz="5200" spc="-350" dirty="0">
                <a:latin typeface="Arial Black"/>
                <a:cs typeface="Arial Black"/>
              </a:rPr>
              <a:t>Structures </a:t>
            </a:r>
            <a:r>
              <a:rPr sz="5200" spc="-375" dirty="0">
                <a:latin typeface="Arial Black"/>
                <a:cs typeface="Arial Black"/>
              </a:rPr>
              <a:t>Arrays</a:t>
            </a:r>
            <a:endParaRPr sz="5200">
              <a:latin typeface="Arial Black"/>
              <a:cs typeface="Arial Black"/>
            </a:endParaRPr>
          </a:p>
          <a:p>
            <a:pPr marL="1516380">
              <a:lnSpc>
                <a:spcPct val="100000"/>
              </a:lnSpc>
              <a:spcBef>
                <a:spcPts val="1030"/>
              </a:spcBef>
            </a:pPr>
            <a:r>
              <a:rPr sz="5200" spc="-140" dirty="0">
                <a:latin typeface="Arial Black"/>
                <a:cs typeface="Arial Black"/>
              </a:rPr>
              <a:t>Input/Output</a:t>
            </a:r>
            <a:r>
              <a:rPr sz="5200" spc="-430" dirty="0">
                <a:latin typeface="Arial Black"/>
                <a:cs typeface="Arial Black"/>
              </a:rPr>
              <a:t> </a:t>
            </a:r>
            <a:r>
              <a:rPr sz="5200" spc="-290" dirty="0">
                <a:latin typeface="Arial Black"/>
                <a:cs typeface="Arial Black"/>
              </a:rPr>
              <a:t>functions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06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0" dirty="0"/>
              <a:t>T</a:t>
            </a:r>
            <a:r>
              <a:rPr spc="-665" dirty="0"/>
              <a:t>ool</a:t>
            </a:r>
            <a:r>
              <a:rPr spc="-655" dirty="0"/>
              <a:t>s</a:t>
            </a:r>
            <a:r>
              <a:rPr spc="-860" dirty="0"/>
              <a:t> </a:t>
            </a:r>
            <a:r>
              <a:rPr spc="-2045" dirty="0"/>
              <a:t>&amp;</a:t>
            </a:r>
            <a:r>
              <a:rPr spc="-860" dirty="0"/>
              <a:t> </a:t>
            </a:r>
            <a:r>
              <a:rPr spc="-1475" dirty="0"/>
              <a:t>T</a:t>
            </a:r>
            <a:r>
              <a:rPr spc="-690" dirty="0"/>
              <a:t>echnol</a:t>
            </a:r>
            <a:r>
              <a:rPr spc="-725" dirty="0"/>
              <a:t>o</a:t>
            </a:r>
            <a:r>
              <a:rPr spc="-690" dirty="0"/>
              <a:t>gie</a:t>
            </a:r>
            <a:r>
              <a:rPr spc="-680" dirty="0"/>
              <a:t>s</a:t>
            </a:r>
            <a:r>
              <a:rPr spc="-860" dirty="0"/>
              <a:t> </a:t>
            </a:r>
            <a:r>
              <a:rPr spc="-745" dirty="0"/>
              <a:t>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9925" y="2861939"/>
            <a:ext cx="6619240" cy="649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985" marR="313690" indent="-1518920">
              <a:lnSpc>
                <a:spcPct val="116599"/>
              </a:lnSpc>
              <a:spcBef>
                <a:spcPts val="100"/>
              </a:spcBef>
            </a:pPr>
            <a:r>
              <a:rPr sz="5200" spc="-315" dirty="0">
                <a:latin typeface="Arial Black"/>
                <a:cs typeface="Arial Black"/>
              </a:rPr>
              <a:t>struct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40" dirty="0">
                <a:latin typeface="Arial Black"/>
                <a:cs typeface="Arial Black"/>
              </a:rPr>
              <a:t>Attendance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50" dirty="0">
                <a:latin typeface="Arial Black"/>
                <a:cs typeface="Arial Black"/>
              </a:rPr>
              <a:t>{ </a:t>
            </a:r>
            <a:r>
              <a:rPr sz="5200" spc="-210" dirty="0">
                <a:latin typeface="Arial Black"/>
                <a:cs typeface="Arial Black"/>
              </a:rPr>
              <a:t>int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10" dirty="0">
                <a:latin typeface="Arial Black"/>
                <a:cs typeface="Arial Black"/>
              </a:rPr>
              <a:t>roll;</a:t>
            </a:r>
            <a:endParaRPr sz="5200">
              <a:latin typeface="Arial Black"/>
              <a:cs typeface="Arial Black"/>
            </a:endParaRPr>
          </a:p>
          <a:p>
            <a:pPr marL="1553845" marR="5080" indent="11430">
              <a:lnSpc>
                <a:spcPct val="116599"/>
              </a:lnSpc>
            </a:pPr>
            <a:r>
              <a:rPr sz="5200" spc="-370" dirty="0">
                <a:latin typeface="Arial Black"/>
                <a:cs typeface="Arial Black"/>
              </a:rPr>
              <a:t>char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290" dirty="0">
                <a:latin typeface="Arial Black"/>
                <a:cs typeface="Arial Black"/>
              </a:rPr>
              <a:t>name[30]; </a:t>
            </a:r>
            <a:r>
              <a:rPr sz="5200" spc="-370" dirty="0">
                <a:latin typeface="Arial Black"/>
                <a:cs typeface="Arial Black"/>
              </a:rPr>
              <a:t>char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55" dirty="0">
                <a:latin typeface="Arial Black"/>
                <a:cs typeface="Arial Black"/>
              </a:rPr>
              <a:t>date[15]; </a:t>
            </a:r>
            <a:r>
              <a:rPr sz="5200" spc="-370" dirty="0">
                <a:latin typeface="Arial Black"/>
                <a:cs typeface="Arial Black"/>
              </a:rPr>
              <a:t>char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day[10]; </a:t>
            </a:r>
            <a:r>
              <a:rPr sz="5200" spc="-370" dirty="0">
                <a:latin typeface="Arial Black"/>
                <a:cs typeface="Arial Black"/>
              </a:rPr>
              <a:t>char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45" dirty="0">
                <a:latin typeface="Arial Black"/>
                <a:cs typeface="Arial Black"/>
              </a:rPr>
              <a:t>status[10];</a:t>
            </a:r>
            <a:endParaRPr sz="5200">
              <a:latin typeface="Arial Black"/>
              <a:cs typeface="Arial Black"/>
            </a:endParaRPr>
          </a:p>
          <a:p>
            <a:pPr marL="3168015">
              <a:lnSpc>
                <a:spcPct val="100000"/>
              </a:lnSpc>
              <a:spcBef>
                <a:spcPts val="1030"/>
              </a:spcBef>
            </a:pPr>
            <a:r>
              <a:rPr sz="5200" spc="-25" dirty="0">
                <a:latin typeface="Arial Black"/>
                <a:cs typeface="Arial Black"/>
              </a:rPr>
              <a:t>};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9699" y="729501"/>
            <a:ext cx="1163256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75" dirty="0"/>
              <a:t>Data</a:t>
            </a:r>
            <a:r>
              <a:rPr spc="-890" dirty="0"/>
              <a:t> </a:t>
            </a:r>
            <a:r>
              <a:rPr spc="-540" dirty="0"/>
              <a:t>Structure</a:t>
            </a:r>
            <a:r>
              <a:rPr spc="-885" dirty="0"/>
              <a:t> </a:t>
            </a:r>
            <a:r>
              <a:rPr spc="-745" dirty="0"/>
              <a:t>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545" y="2733984"/>
            <a:ext cx="12085955" cy="464502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891540" indent="-831215">
              <a:lnSpc>
                <a:spcPct val="100000"/>
              </a:lnSpc>
              <a:spcBef>
                <a:spcPts val="1135"/>
              </a:spcBef>
              <a:buFont typeface="Lucida Sans"/>
              <a:buAutoNum type="arabicPeriod"/>
              <a:tabLst>
                <a:tab pos="891540" algn="l"/>
              </a:tabLst>
            </a:pPr>
            <a:r>
              <a:rPr sz="5200" spc="-315" dirty="0">
                <a:latin typeface="Arial Black"/>
                <a:cs typeface="Arial Black"/>
              </a:rPr>
              <a:t>Enter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65" dirty="0">
                <a:latin typeface="Arial Black"/>
                <a:cs typeface="Arial Black"/>
              </a:rPr>
              <a:t>number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125" dirty="0">
                <a:latin typeface="Arial Black"/>
                <a:cs typeface="Arial Black"/>
              </a:rPr>
              <a:t>of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35" dirty="0">
                <a:latin typeface="Arial Black"/>
                <a:cs typeface="Arial Black"/>
              </a:rPr>
              <a:t>students</a:t>
            </a:r>
            <a:endParaRPr sz="5200">
              <a:latin typeface="Arial Black"/>
              <a:cs typeface="Arial Black"/>
            </a:endParaRPr>
          </a:p>
          <a:p>
            <a:pPr marL="868680" indent="-819150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868680" algn="l"/>
              </a:tabLst>
            </a:pPr>
            <a:r>
              <a:rPr sz="5200" spc="-220" dirty="0">
                <a:latin typeface="Arial Black"/>
                <a:cs typeface="Arial Black"/>
              </a:rPr>
              <a:t>Input</a:t>
            </a:r>
            <a:r>
              <a:rPr sz="5200" spc="-484" dirty="0">
                <a:latin typeface="Arial Black"/>
                <a:cs typeface="Arial Black"/>
              </a:rPr>
              <a:t> </a:t>
            </a:r>
            <a:r>
              <a:rPr sz="5200" spc="-285" dirty="0">
                <a:latin typeface="Arial Black"/>
                <a:cs typeface="Arial Black"/>
              </a:rPr>
              <a:t>student</a:t>
            </a:r>
            <a:r>
              <a:rPr sz="5200" spc="-480" dirty="0">
                <a:latin typeface="Arial Black"/>
                <a:cs typeface="Arial Black"/>
              </a:rPr>
              <a:t> </a:t>
            </a:r>
            <a:r>
              <a:rPr sz="5200" spc="-335" dirty="0">
                <a:latin typeface="Arial Black"/>
                <a:cs typeface="Arial Black"/>
              </a:rPr>
              <a:t>details</a:t>
            </a:r>
            <a:endParaRPr sz="5200">
              <a:latin typeface="Arial Black"/>
              <a:cs typeface="Arial Black"/>
            </a:endParaRPr>
          </a:p>
          <a:p>
            <a:pPr marL="902335" indent="-873125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902335" algn="l"/>
              </a:tabLst>
            </a:pPr>
            <a:r>
              <a:rPr sz="5200" spc="-315" dirty="0">
                <a:latin typeface="Arial Black"/>
                <a:cs typeface="Arial Black"/>
              </a:rPr>
              <a:t>Enter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35" dirty="0">
                <a:latin typeface="Arial Black"/>
                <a:cs typeface="Arial Black"/>
              </a:rPr>
              <a:t>date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and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30" dirty="0">
                <a:latin typeface="Arial Black"/>
                <a:cs typeface="Arial Black"/>
              </a:rPr>
              <a:t>day</a:t>
            </a:r>
            <a:endParaRPr sz="5200">
              <a:latin typeface="Arial Black"/>
              <a:cs typeface="Arial Black"/>
            </a:endParaRPr>
          </a:p>
          <a:p>
            <a:pPr marL="945515" indent="-932815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945515" algn="l"/>
              </a:tabLst>
            </a:pPr>
            <a:r>
              <a:rPr sz="5200" spc="-370" dirty="0">
                <a:latin typeface="Arial Black"/>
                <a:cs typeface="Arial Black"/>
              </a:rPr>
              <a:t>Mark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85" dirty="0">
                <a:latin typeface="Arial Black"/>
                <a:cs typeface="Arial Black"/>
              </a:rPr>
              <a:t>(Present/Absent)</a:t>
            </a:r>
            <a:endParaRPr sz="5200">
              <a:latin typeface="Arial Black"/>
              <a:cs typeface="Arial Black"/>
            </a:endParaRPr>
          </a:p>
          <a:p>
            <a:pPr marL="906780" indent="-885190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906780" algn="l"/>
              </a:tabLst>
            </a:pPr>
            <a:r>
              <a:rPr sz="5200" spc="-290" dirty="0">
                <a:latin typeface="Arial Black"/>
                <a:cs typeface="Arial Black"/>
              </a:rPr>
              <a:t>Display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60" dirty="0">
                <a:latin typeface="Arial Black"/>
                <a:cs typeface="Arial Black"/>
              </a:rPr>
              <a:t>records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6520" y="549657"/>
            <a:ext cx="1053020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Program</a:t>
            </a:r>
            <a:r>
              <a:rPr spc="-880" dirty="0"/>
              <a:t> </a:t>
            </a:r>
            <a:r>
              <a:rPr spc="-615" dirty="0"/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1317" y="3635127"/>
            <a:ext cx="80911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254" dirty="0">
                <a:latin typeface="Arial Black"/>
                <a:cs typeface="Arial Black"/>
              </a:rPr>
              <a:t>--</a:t>
            </a:r>
            <a:r>
              <a:rPr sz="5200" spc="260" dirty="0">
                <a:latin typeface="Arial Black"/>
                <a:cs typeface="Arial Black"/>
              </a:rPr>
              <a:t>-</a:t>
            </a:r>
            <a:r>
              <a:rPr sz="5200" spc="-505" dirty="0">
                <a:latin typeface="Arial Black"/>
                <a:cs typeface="Arial Black"/>
              </a:rPr>
              <a:t> </a:t>
            </a:r>
            <a:r>
              <a:rPr sz="5200" spc="-340" dirty="0">
                <a:latin typeface="Arial Black"/>
                <a:cs typeface="Arial Black"/>
              </a:rPr>
              <a:t>Attendance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385" dirty="0">
                <a:latin typeface="Arial Black"/>
                <a:cs typeface="Arial Black"/>
              </a:rPr>
              <a:t>Record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254" dirty="0">
                <a:latin typeface="Arial Black"/>
                <a:cs typeface="Arial Black"/>
              </a:rPr>
              <a:t>--</a:t>
            </a:r>
            <a:r>
              <a:rPr sz="5200" spc="210" dirty="0">
                <a:latin typeface="Arial Black"/>
                <a:cs typeface="Arial Black"/>
              </a:rPr>
              <a:t>-</a:t>
            </a:r>
            <a:endParaRPr sz="5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2623" y="4526287"/>
          <a:ext cx="16708755" cy="274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7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8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200" spc="-315" dirty="0">
                          <a:latin typeface="Arial Black"/>
                          <a:cs typeface="Arial Black"/>
                        </a:rPr>
                        <a:t>Roll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2044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200" spc="-434" dirty="0">
                          <a:latin typeface="Arial Black"/>
                          <a:cs typeface="Arial Black"/>
                        </a:rPr>
                        <a:t>Name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24911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200" spc="-350" dirty="0">
                          <a:latin typeface="Arial Black"/>
                          <a:cs typeface="Arial Black"/>
                        </a:rPr>
                        <a:t>Date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877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200" spc="-325" dirty="0">
                          <a:latin typeface="Arial Black"/>
                          <a:cs typeface="Arial Black"/>
                        </a:rPr>
                        <a:t>Day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941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200" spc="-390" dirty="0">
                          <a:latin typeface="Arial Black"/>
                          <a:cs typeface="Arial Black"/>
                        </a:rPr>
                        <a:t>Status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780" dirty="0">
                          <a:latin typeface="Arial Black"/>
                          <a:cs typeface="Arial Black"/>
                        </a:rPr>
                        <a:t>1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77216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430" dirty="0">
                          <a:latin typeface="Arial Black"/>
                          <a:cs typeface="Arial Black"/>
                        </a:rPr>
                        <a:t>Ravi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R="303530" algn="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270" dirty="0">
                          <a:latin typeface="Arial Black"/>
                          <a:cs typeface="Arial Black"/>
                        </a:rPr>
                        <a:t>15/12/2025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70" dirty="0">
                          <a:latin typeface="Arial Black"/>
                          <a:cs typeface="Arial Black"/>
                        </a:rPr>
                        <a:t>Monday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375" dirty="0">
                          <a:latin typeface="Arial Black"/>
                          <a:cs typeface="Arial Black"/>
                        </a:rPr>
                        <a:t>Present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640" dirty="0">
                          <a:latin typeface="Arial Black"/>
                          <a:cs typeface="Arial Black"/>
                        </a:rPr>
                        <a:t>2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330" dirty="0">
                          <a:latin typeface="Arial Black"/>
                          <a:cs typeface="Arial Black"/>
                        </a:rPr>
                        <a:t>Anu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R="323215" algn="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270" dirty="0">
                          <a:latin typeface="Arial Black"/>
                          <a:cs typeface="Arial Black"/>
                        </a:rPr>
                        <a:t>15/12/2025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43751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70" dirty="0">
                          <a:latin typeface="Arial Black"/>
                          <a:cs typeface="Arial Black"/>
                        </a:rPr>
                        <a:t>Monday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5200" spc="-350" dirty="0">
                          <a:latin typeface="Arial Black"/>
                          <a:cs typeface="Arial Black"/>
                        </a:rPr>
                        <a:t>Absent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T="577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0691" rIns="0" bIns="0" rtlCol="0">
            <a:spAutoFit/>
          </a:bodyPr>
          <a:lstStyle/>
          <a:p>
            <a:pPr marL="3087370">
              <a:lnSpc>
                <a:spcPct val="100000"/>
              </a:lnSpc>
              <a:spcBef>
                <a:spcPts val="100"/>
              </a:spcBef>
            </a:pPr>
            <a:r>
              <a:rPr spc="-660" dirty="0"/>
              <a:t>Sample</a:t>
            </a:r>
            <a:r>
              <a:rPr spc="-885" dirty="0"/>
              <a:t> </a:t>
            </a:r>
            <a:r>
              <a:rPr spc="-370" dirty="0"/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4606" y="3195948"/>
            <a:ext cx="8555355" cy="372110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135"/>
              </a:spcBef>
            </a:pPr>
            <a:r>
              <a:rPr sz="5200" spc="-490" dirty="0">
                <a:latin typeface="Arial Black"/>
                <a:cs typeface="Arial Black"/>
              </a:rPr>
              <a:t>Saves</a:t>
            </a:r>
            <a:r>
              <a:rPr sz="5200" spc="-509" dirty="0">
                <a:latin typeface="Arial Black"/>
                <a:cs typeface="Arial Black"/>
              </a:rPr>
              <a:t> </a:t>
            </a:r>
            <a:r>
              <a:rPr sz="5200" spc="-325" dirty="0">
                <a:latin typeface="Arial Black"/>
                <a:cs typeface="Arial Black"/>
              </a:rPr>
              <a:t>time</a:t>
            </a:r>
            <a:endParaRPr sz="5200">
              <a:latin typeface="Arial Black"/>
              <a:cs typeface="Arial Black"/>
            </a:endParaRPr>
          </a:p>
          <a:p>
            <a:pPr marL="87630">
              <a:lnSpc>
                <a:spcPct val="100000"/>
              </a:lnSpc>
              <a:spcBef>
                <a:spcPts val="1035"/>
              </a:spcBef>
            </a:pPr>
            <a:r>
              <a:rPr sz="5200" spc="-455" dirty="0">
                <a:latin typeface="Arial Black"/>
                <a:cs typeface="Arial Black"/>
              </a:rPr>
              <a:t>Reduces</a:t>
            </a:r>
            <a:r>
              <a:rPr sz="5200" spc="-509" dirty="0">
                <a:latin typeface="Arial Black"/>
                <a:cs typeface="Arial Black"/>
              </a:rPr>
              <a:t> </a:t>
            </a:r>
            <a:r>
              <a:rPr sz="5200" spc="-375" dirty="0">
                <a:latin typeface="Arial Black"/>
                <a:cs typeface="Arial Black"/>
              </a:rPr>
              <a:t>paperwork</a:t>
            </a:r>
            <a:endParaRPr sz="5200">
              <a:latin typeface="Arial Black"/>
              <a:cs typeface="Arial Black"/>
            </a:endParaRPr>
          </a:p>
          <a:p>
            <a:pPr marL="29845" marR="5080" indent="-17780">
              <a:lnSpc>
                <a:spcPct val="116599"/>
              </a:lnSpc>
            </a:pPr>
            <a:r>
              <a:rPr sz="5200" spc="-484" dirty="0">
                <a:latin typeface="Arial Black"/>
                <a:cs typeface="Arial Black"/>
              </a:rPr>
              <a:t>Easy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00" dirty="0">
                <a:latin typeface="Arial Black"/>
                <a:cs typeface="Arial Black"/>
              </a:rPr>
              <a:t>to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190" dirty="0">
                <a:latin typeface="Arial Black"/>
                <a:cs typeface="Arial Black"/>
              </a:rPr>
              <a:t>modify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and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90" dirty="0">
                <a:latin typeface="Arial Black"/>
                <a:cs typeface="Arial Black"/>
              </a:rPr>
              <a:t>extend </a:t>
            </a:r>
            <a:r>
              <a:rPr sz="5200" spc="-285" dirty="0">
                <a:latin typeface="Arial Black"/>
                <a:cs typeface="Arial Black"/>
              </a:rPr>
              <a:t>Beginner-</a:t>
            </a:r>
            <a:r>
              <a:rPr sz="5200" spc="-200" dirty="0">
                <a:latin typeface="Arial Black"/>
                <a:cs typeface="Arial Black"/>
              </a:rPr>
              <a:t>friendly</a:t>
            </a:r>
            <a:r>
              <a:rPr sz="5200" spc="-420" dirty="0">
                <a:latin typeface="Arial Black"/>
                <a:cs typeface="Arial Black"/>
              </a:rPr>
              <a:t> </a:t>
            </a:r>
            <a:r>
              <a:rPr sz="5200" spc="-300" dirty="0">
                <a:latin typeface="Arial Black"/>
                <a:cs typeface="Arial Black"/>
              </a:rPr>
              <a:t>project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0691" rIns="0" bIns="0" rtlCol="0">
            <a:spAutoFit/>
          </a:bodyPr>
          <a:lstStyle/>
          <a:p>
            <a:pPr marL="2707005">
              <a:lnSpc>
                <a:spcPct val="100000"/>
              </a:lnSpc>
              <a:spcBef>
                <a:spcPts val="100"/>
              </a:spcBef>
            </a:pPr>
            <a:r>
              <a:rPr spc="-710" dirty="0"/>
              <a:t>Advantages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4293013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5216938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6140863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7064788"/>
            <a:ext cx="228600" cy="228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48795" y="3831361"/>
            <a:ext cx="11399520" cy="372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100"/>
              </a:spcBef>
            </a:pPr>
            <a:r>
              <a:rPr sz="5200" spc="-250" dirty="0">
                <a:latin typeface="Arial Black"/>
                <a:cs typeface="Arial Black"/>
              </a:rPr>
              <a:t>Add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20" dirty="0">
                <a:latin typeface="Arial Black"/>
                <a:cs typeface="Arial Black"/>
              </a:rPr>
              <a:t>file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85" dirty="0">
                <a:latin typeface="Arial Black"/>
                <a:cs typeface="Arial Black"/>
              </a:rPr>
              <a:t>handling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00" dirty="0">
                <a:latin typeface="Arial Black"/>
                <a:cs typeface="Arial Black"/>
              </a:rPr>
              <a:t>to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70" dirty="0">
                <a:latin typeface="Arial Black"/>
                <a:cs typeface="Arial Black"/>
              </a:rPr>
              <a:t>save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65" dirty="0">
                <a:latin typeface="Arial Black"/>
                <a:cs typeface="Arial Black"/>
              </a:rPr>
              <a:t>data </a:t>
            </a:r>
            <a:r>
              <a:rPr sz="5200" spc="-335" dirty="0">
                <a:latin typeface="Arial Black"/>
                <a:cs typeface="Arial Black"/>
              </a:rPr>
              <a:t>Automatic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35" dirty="0">
                <a:latin typeface="Arial Black"/>
                <a:cs typeface="Arial Black"/>
              </a:rPr>
              <a:t>date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and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05" dirty="0">
                <a:latin typeface="Arial Black"/>
                <a:cs typeface="Arial Black"/>
              </a:rPr>
              <a:t>day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40" dirty="0">
                <a:latin typeface="Arial Black"/>
                <a:cs typeface="Arial Black"/>
              </a:rPr>
              <a:t>generation </a:t>
            </a:r>
            <a:r>
              <a:rPr sz="5200" spc="-190" dirty="0">
                <a:latin typeface="Arial Black"/>
                <a:cs typeface="Arial Black"/>
              </a:rPr>
              <a:t>Monthly</a:t>
            </a:r>
            <a:r>
              <a:rPr sz="5200" spc="-470" dirty="0">
                <a:latin typeface="Arial Black"/>
                <a:cs typeface="Arial Black"/>
              </a:rPr>
              <a:t> </a:t>
            </a:r>
            <a:r>
              <a:rPr sz="5200" spc="-350" dirty="0">
                <a:latin typeface="Arial Black"/>
                <a:cs typeface="Arial Black"/>
              </a:rPr>
              <a:t>attendance</a:t>
            </a:r>
            <a:r>
              <a:rPr sz="5200" spc="-470" dirty="0">
                <a:latin typeface="Arial Black"/>
                <a:cs typeface="Arial Black"/>
              </a:rPr>
              <a:t> </a:t>
            </a:r>
            <a:r>
              <a:rPr sz="5200" spc="-10" dirty="0">
                <a:latin typeface="Arial Black"/>
                <a:cs typeface="Arial Black"/>
              </a:rPr>
              <a:t>report</a:t>
            </a:r>
            <a:endParaRPr sz="5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5200" spc="-160" dirty="0">
                <a:latin typeface="Arial Black"/>
                <a:cs typeface="Arial Black"/>
              </a:rPr>
              <a:t>Menu-</a:t>
            </a:r>
            <a:r>
              <a:rPr sz="5200" spc="-245" dirty="0">
                <a:latin typeface="Arial Black"/>
                <a:cs typeface="Arial Black"/>
              </a:rPr>
              <a:t>driven</a:t>
            </a:r>
            <a:r>
              <a:rPr sz="5200" spc="-450" dirty="0">
                <a:latin typeface="Arial Black"/>
                <a:cs typeface="Arial Black"/>
              </a:rPr>
              <a:t> </a:t>
            </a:r>
            <a:r>
              <a:rPr sz="5200" spc="-420" dirty="0">
                <a:latin typeface="Arial Black"/>
                <a:cs typeface="Arial Black"/>
              </a:rPr>
              <a:t>system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074" rIns="0" bIns="0" rtlCol="0">
            <a:spAutoFit/>
          </a:bodyPr>
          <a:lstStyle/>
          <a:p>
            <a:pPr marL="1580515">
              <a:lnSpc>
                <a:spcPct val="100000"/>
              </a:lnSpc>
              <a:spcBef>
                <a:spcPts val="100"/>
              </a:spcBef>
            </a:pPr>
            <a:r>
              <a:rPr spc="-540" dirty="0"/>
              <a:t>Future</a:t>
            </a:r>
            <a:r>
              <a:rPr spc="-875" dirty="0"/>
              <a:t> </a:t>
            </a:r>
            <a:r>
              <a:rPr spc="-690" dirty="0"/>
              <a:t>Enhancements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9906" y="3195948"/>
            <a:ext cx="14700250" cy="372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100"/>
              </a:spcBef>
            </a:pPr>
            <a:r>
              <a:rPr sz="5200" spc="-450" dirty="0">
                <a:latin typeface="Arial Black"/>
                <a:cs typeface="Arial Black"/>
              </a:rPr>
              <a:t>The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90" dirty="0">
                <a:latin typeface="Arial Black"/>
                <a:cs typeface="Arial Black"/>
              </a:rPr>
              <a:t>project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75" dirty="0">
                <a:latin typeface="Arial Black"/>
                <a:cs typeface="Arial Black"/>
              </a:rPr>
              <a:t>successfully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70" dirty="0">
                <a:latin typeface="Arial Black"/>
                <a:cs typeface="Arial Black"/>
              </a:rPr>
              <a:t>manages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60" dirty="0">
                <a:latin typeface="Arial Black"/>
                <a:cs typeface="Arial Black"/>
              </a:rPr>
              <a:t>attendance </a:t>
            </a:r>
            <a:r>
              <a:rPr sz="5200" spc="-345" dirty="0">
                <a:latin typeface="Arial Black"/>
                <a:cs typeface="Arial Black"/>
              </a:rPr>
              <a:t>Demonstrates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425" dirty="0">
                <a:latin typeface="Arial Black"/>
                <a:cs typeface="Arial Black"/>
              </a:rPr>
              <a:t>basic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450" dirty="0">
                <a:latin typeface="Arial Black"/>
                <a:cs typeface="Arial Black"/>
              </a:rPr>
              <a:t>C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30" dirty="0">
                <a:latin typeface="Arial Black"/>
                <a:cs typeface="Arial Black"/>
              </a:rPr>
              <a:t>programming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380" dirty="0">
                <a:latin typeface="Arial Black"/>
                <a:cs typeface="Arial Black"/>
              </a:rPr>
              <a:t>concepts </a:t>
            </a:r>
            <a:r>
              <a:rPr sz="5200" spc="-320" dirty="0">
                <a:latin typeface="Arial Black"/>
                <a:cs typeface="Arial Black"/>
              </a:rPr>
              <a:t>Useful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140" dirty="0">
                <a:latin typeface="Arial Black"/>
                <a:cs typeface="Arial Black"/>
              </a:rPr>
              <a:t>for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34" dirty="0">
                <a:latin typeface="Arial Black"/>
                <a:cs typeface="Arial Black"/>
              </a:rPr>
              <a:t>academic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95" dirty="0">
                <a:latin typeface="Arial Black"/>
                <a:cs typeface="Arial Black"/>
              </a:rPr>
              <a:t>and</a:t>
            </a:r>
            <a:r>
              <a:rPr sz="5200" spc="-484" dirty="0">
                <a:latin typeface="Arial Black"/>
                <a:cs typeface="Arial Black"/>
              </a:rPr>
              <a:t> </a:t>
            </a:r>
            <a:r>
              <a:rPr sz="5200" spc="-315" dirty="0">
                <a:latin typeface="Arial Black"/>
                <a:cs typeface="Arial Black"/>
              </a:rPr>
              <a:t>learning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30" dirty="0">
                <a:latin typeface="Arial Black"/>
                <a:cs typeface="Arial Black"/>
              </a:rPr>
              <a:t>purposes </a:t>
            </a:r>
            <a:r>
              <a:rPr sz="5200" spc="-395" dirty="0">
                <a:latin typeface="Arial Black"/>
                <a:cs typeface="Arial Black"/>
              </a:rPr>
              <a:t>Can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00" dirty="0">
                <a:latin typeface="Arial Black"/>
                <a:cs typeface="Arial Black"/>
              </a:rPr>
              <a:t>be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355" dirty="0">
                <a:latin typeface="Arial Black"/>
                <a:cs typeface="Arial Black"/>
              </a:rPr>
              <a:t>enhanced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140" dirty="0">
                <a:latin typeface="Arial Black"/>
                <a:cs typeface="Arial Black"/>
              </a:rPr>
              <a:t>for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235" dirty="0">
                <a:latin typeface="Arial Black"/>
                <a:cs typeface="Arial Black"/>
              </a:rPr>
              <a:t>real-</a:t>
            </a:r>
            <a:r>
              <a:rPr sz="5200" spc="-300" dirty="0">
                <a:latin typeface="Arial Black"/>
                <a:cs typeface="Arial Black"/>
              </a:rPr>
              <a:t>world</a:t>
            </a:r>
            <a:r>
              <a:rPr sz="5200" spc="-490" dirty="0">
                <a:latin typeface="Arial Black"/>
                <a:cs typeface="Arial Black"/>
              </a:rPr>
              <a:t> </a:t>
            </a:r>
            <a:r>
              <a:rPr sz="5200" spc="-465" dirty="0">
                <a:latin typeface="Arial Black"/>
                <a:cs typeface="Arial Black"/>
              </a:rPr>
              <a:t>use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7957" rIns="0" bIns="0" rtlCol="0">
            <a:spAutoFit/>
          </a:bodyPr>
          <a:lstStyle/>
          <a:p>
            <a:pPr marL="3038475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3670" y="3016992"/>
            <a:ext cx="588899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25" dirty="0"/>
              <a:t>Thank</a:t>
            </a:r>
            <a:r>
              <a:rPr spc="-885" dirty="0"/>
              <a:t> </a:t>
            </a:r>
            <a:r>
              <a:rPr spc="-1480" dirty="0"/>
              <a:t>Y</a:t>
            </a:r>
            <a:r>
              <a:rPr spc="-705" dirty="0"/>
              <a:t>o</a:t>
            </a:r>
            <a:r>
              <a:rPr spc="-695" dirty="0"/>
              <a:t>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73304" y="5979747"/>
            <a:ext cx="9713595" cy="372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16599"/>
              </a:lnSpc>
              <a:spcBef>
                <a:spcPts val="100"/>
              </a:spcBef>
            </a:pPr>
            <a:r>
              <a:rPr sz="5200" spc="-355" dirty="0">
                <a:latin typeface="Arial Black"/>
                <a:cs typeface="Arial Black"/>
              </a:rPr>
              <a:t>G.Neeraja-</a:t>
            </a:r>
            <a:r>
              <a:rPr sz="5200" spc="-400" dirty="0">
                <a:latin typeface="Arial Black"/>
                <a:cs typeface="Arial Black"/>
              </a:rPr>
              <a:t>25A31A04K0 </a:t>
            </a:r>
            <a:r>
              <a:rPr sz="5200" spc="-434" dirty="0">
                <a:latin typeface="Arial Black"/>
                <a:cs typeface="Arial Black"/>
              </a:rPr>
              <a:t>G.Rishika</a:t>
            </a:r>
            <a:r>
              <a:rPr sz="5200" spc="-415" dirty="0">
                <a:latin typeface="Arial Black"/>
                <a:cs typeface="Arial Black"/>
              </a:rPr>
              <a:t> </a:t>
            </a:r>
            <a:r>
              <a:rPr sz="5200" spc="-225" dirty="0">
                <a:latin typeface="Arial Black"/>
                <a:cs typeface="Arial Black"/>
              </a:rPr>
              <a:t>priyani-</a:t>
            </a:r>
            <a:r>
              <a:rPr sz="5200" spc="-490" dirty="0">
                <a:latin typeface="Arial Black"/>
                <a:cs typeface="Arial Black"/>
              </a:rPr>
              <a:t>25A31A04K1 </a:t>
            </a:r>
            <a:r>
              <a:rPr sz="5200" spc="-330" dirty="0">
                <a:latin typeface="Arial Black"/>
                <a:cs typeface="Arial Black"/>
              </a:rPr>
              <a:t>D.Surya</a:t>
            </a:r>
            <a:r>
              <a:rPr sz="5200" spc="-495" dirty="0">
                <a:latin typeface="Arial Black"/>
                <a:cs typeface="Arial Black"/>
              </a:rPr>
              <a:t> </a:t>
            </a:r>
            <a:r>
              <a:rPr sz="5200" spc="-290" dirty="0">
                <a:latin typeface="Arial Black"/>
                <a:cs typeface="Arial Black"/>
              </a:rPr>
              <a:t>sohan-</a:t>
            </a:r>
            <a:r>
              <a:rPr sz="5200" spc="-420" dirty="0">
                <a:latin typeface="Arial Black"/>
                <a:cs typeface="Arial Black"/>
              </a:rPr>
              <a:t>25A31A04M7 </a:t>
            </a:r>
            <a:r>
              <a:rPr sz="5200" spc="-355" dirty="0">
                <a:latin typeface="Arial Black"/>
                <a:cs typeface="Arial Black"/>
              </a:rPr>
              <a:t>G.H.Ch.Shekhar-</a:t>
            </a:r>
            <a:r>
              <a:rPr sz="5200" spc="-370" dirty="0">
                <a:latin typeface="Arial Black"/>
                <a:cs typeface="Arial Black"/>
              </a:rPr>
              <a:t>25A31A04M8</a:t>
            </a:r>
            <a:endParaRPr sz="5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256</Words>
  <Application>Microsoft Office PowerPoint</Application>
  <PresentationFormat>Custom</PresentationFormat>
  <Paragraphs>55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STUDENT ATTENDANCE MANAGEMENT SYSTEM</vt:lpstr>
      <vt:lpstr>Introduction</vt:lpstr>
      <vt:lpstr>Objectives</vt:lpstr>
      <vt:lpstr>Features of the System</vt:lpstr>
      <vt:lpstr>Tools &amp; Technologies Used</vt:lpstr>
      <vt:lpstr>Data Structure Used</vt:lpstr>
      <vt:lpstr>Program Workflow</vt:lpstr>
      <vt:lpstr>Sample Output</vt:lpstr>
      <vt:lpstr>Advantages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MANAGEMENT SYSTEM</dc:title>
  <dc:creator>sandhya</dc:creator>
  <cp:keywords>DAG8sWw3QwY,BAG8sS2ExfA,0</cp:keywords>
  <cp:lastModifiedBy>Sohan Surya</cp:lastModifiedBy>
  <cp:revision>2</cp:revision>
  <dcterms:created xsi:type="dcterms:W3CDTF">2025-12-27T16:11:57Z</dcterms:created>
  <dcterms:modified xsi:type="dcterms:W3CDTF">2025-12-27T16:15:35Z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2025-12-27T00:00:00Z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2025-12-27T00:00:00Z</vt:filetime>
  </property>
  <property fmtid="{D5CDD505-2E9C-101B-9397-08002B2CF9AE}" pid="5" name="Producer">
    <vt:lpwstr>3-Heights(TM) PDF Security Shell 4.8.25.2 (http://www.pdf-tools.com)</vt:lpwstr>
  </property>
</Properties>
</file>